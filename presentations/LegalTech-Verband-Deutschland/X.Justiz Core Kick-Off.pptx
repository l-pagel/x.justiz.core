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9" r:id="rId3"/>
    <p:sldId id="260" r:id="rId4"/>
    <p:sldId id="261" r:id="rId5"/>
    <p:sldId id="262" r:id="rId6"/>
    <p:sldId id="257" r:id="rId7"/>
    <p:sldId id="264" r:id="rId8"/>
    <p:sldId id="263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929" autoAdjust="0"/>
    <p:restoredTop sz="94660"/>
  </p:normalViewPr>
  <p:slideViewPr>
    <p:cSldViewPr snapToGrid="0">
      <p:cViewPr varScale="1">
        <p:scale>
          <a:sx n="91" d="100"/>
          <a:sy n="91" d="100"/>
        </p:scale>
        <p:origin x="10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3781BB-5EC7-44B3-C4B9-40A3C5BBA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818FE1E-A405-4C2C-DE50-D527B1812C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310842B-46CA-D99A-B7D9-AE2C41F22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A3541-796D-434F-9BA0-304609D47967}" type="datetimeFigureOut">
              <a:rPr lang="en-DE" smtClean="0"/>
              <a:t>12/01/2026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4AD991D-EC9E-7EFD-BA6A-C83A182BF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2A83A1-898A-5F4F-5F42-D09BC0AF5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F4C7-46E9-433C-BE44-BD5996434FF2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60021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62AC4C-2A95-BB0C-672C-78FE3A1F4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ED9863-C46A-ED5E-BF50-B95E42512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54626A9-B998-FE0C-D2A9-397964AEF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A3541-796D-434F-9BA0-304609D47967}" type="datetimeFigureOut">
              <a:rPr lang="en-DE" smtClean="0"/>
              <a:t>12/01/2026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C0E478C-85F3-63CC-640F-38EA41B0C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622381B-A6F4-59A2-A1B3-49253F37E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F4C7-46E9-433C-BE44-BD5996434FF2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44862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AB3E79-EE29-E0F9-76A1-E1D92BBD9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B38F0F9-4E1F-15BE-06D0-BE7F79774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F90B4D4-96AE-F96E-3AD7-4DE76189D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A3541-796D-434F-9BA0-304609D47967}" type="datetimeFigureOut">
              <a:rPr lang="en-DE" smtClean="0"/>
              <a:t>12/01/2026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7502C6-6A17-AF56-C7BB-2722F5C2B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41A384-D1FA-C6F6-8501-AA764516D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F4C7-46E9-433C-BE44-BD5996434FF2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8299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229CAD-F333-F7A2-31DF-D05A43C08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36A8F15-11F7-D6DF-53E0-4CEC1DA96D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6858012-A428-8CC9-A982-AAAD575524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376962-133B-9D89-C22F-DA7DA406D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A3541-796D-434F-9BA0-304609D47967}" type="datetimeFigureOut">
              <a:rPr lang="en-DE" smtClean="0"/>
              <a:t>12/01/2026</a:t>
            </a:fld>
            <a:endParaRPr lang="en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0DB52DB-904B-44AD-D6C8-D635BF0A1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13585A8-E5DA-72CB-7E33-5DEA88D4F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F4C7-46E9-433C-BE44-BD5996434FF2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83536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DDC50B-FE10-635A-1E65-F1C9E0678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BA4A26C-751B-408C-0FC0-C742B269F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691C1C7-B4A4-CC62-A57E-4E9BCE2824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FEA1EB0-A21D-4128-01F2-7AD60F9089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9554337-2E6D-4D68-3E29-482634E4F2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8C1D202-1432-3C1E-A20E-F4AA7168F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A3541-796D-434F-9BA0-304609D47967}" type="datetimeFigureOut">
              <a:rPr lang="en-DE" smtClean="0"/>
              <a:t>12/01/2026</a:t>
            </a:fld>
            <a:endParaRPr lang="en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C5D3A64-B111-3D7A-C3EB-73C493C06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88025FF-F989-906B-130E-EF6A6CD2E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F4C7-46E9-433C-BE44-BD5996434FF2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52525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706CE4-5EEB-C32E-6A70-717DA8011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7DE54D2-4A4E-060F-1463-F74D75E74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A3541-796D-434F-9BA0-304609D47967}" type="datetimeFigureOut">
              <a:rPr lang="en-DE" smtClean="0"/>
              <a:t>12/01/2026</a:t>
            </a:fld>
            <a:endParaRPr lang="en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657F77D-9C6E-8688-75A0-AD49FADC2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585F106-03FB-358B-7FF0-BD55A411E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F4C7-46E9-433C-BE44-BD5996434FF2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71908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05D70F7-D760-1A6B-546E-A516EADC4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A3541-796D-434F-9BA0-304609D47967}" type="datetimeFigureOut">
              <a:rPr lang="en-DE" smtClean="0"/>
              <a:t>12/01/2026</a:t>
            </a:fld>
            <a:endParaRPr lang="en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12788D4-3BB9-8792-BB82-B83746E78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710635C-2A41-E31B-180B-97DA6267E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F4C7-46E9-433C-BE44-BD5996434FF2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13874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A58857-01D0-EC0D-9AE4-5760CC14C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D4C56C-C1B5-4FDF-B45B-565D67ED3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DB9A9B2-A6A0-5754-66F7-43FF84CDD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DB7700B-1B60-5E6A-2295-97005EF68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A3541-796D-434F-9BA0-304609D47967}" type="datetimeFigureOut">
              <a:rPr lang="en-DE" smtClean="0"/>
              <a:t>12/01/2026</a:t>
            </a:fld>
            <a:endParaRPr lang="en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FC4C46-DB08-9443-364A-966B03363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14A2BEE-1E79-DBBB-7994-99708E94B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F4C7-46E9-433C-BE44-BD5996434FF2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93914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7FCDB2-0BFC-7F24-2258-47712E561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D405F01-1439-1BD4-BC21-F48523A7C0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E5B4E48-DA24-D4EC-6342-206087728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2346E0A-3545-DFDC-5796-1593EDA7F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A3541-796D-434F-9BA0-304609D47967}" type="datetimeFigureOut">
              <a:rPr lang="en-DE" smtClean="0"/>
              <a:t>12/01/2026</a:t>
            </a:fld>
            <a:endParaRPr lang="en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21F967B-6C43-A0F6-B137-D55BA7549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ACBF0CF-5E51-246F-A619-17CF1891C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F4C7-46E9-433C-BE44-BD5996434FF2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31876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2765AF-091E-7515-B80F-9C521124C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A832894-7537-B26A-2698-AEEC983906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DB88B4D-6C25-E74F-B289-3671C019F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A3541-796D-434F-9BA0-304609D47967}" type="datetimeFigureOut">
              <a:rPr lang="en-DE" smtClean="0"/>
              <a:t>12/01/2026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9C4E0DD-05B0-38BF-F8FC-FB1E1012B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1389B0-7D28-851E-5576-E50FD2983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F4C7-46E9-433C-BE44-BD5996434FF2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19281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D7AA7B5-2772-D8E3-4079-E4B9580263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6C52284-1189-77B7-B9C4-2C01376694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8C88D39-EFF2-2EA4-2DF1-604C3E82B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A3541-796D-434F-9BA0-304609D47967}" type="datetimeFigureOut">
              <a:rPr lang="en-DE" smtClean="0"/>
              <a:t>12/01/2026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7F99414-F8D4-9235-0041-054E9C95B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16BFAE-C7EC-F9F1-5423-5D112AAE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F4C7-46E9-433C-BE44-BD5996434FF2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09587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3166F28-FE34-CAC1-4424-9879B4B7E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BECDA3C-86FE-BA3E-3820-761C45529C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831ADFC-A532-BE06-8EA4-1D047D4168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4A3541-796D-434F-9BA0-304609D47967}" type="datetimeFigureOut">
              <a:rPr lang="en-DE" smtClean="0"/>
              <a:t>12/01/2026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DCAE20-123C-1A36-9F41-BDC45761FA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E21E06-E779-DFF7-D4C3-6D204B32AD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B5F4C7-46E9-433C-BE44-BD5996434FF2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66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-pagel/X.Justiz.Core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-pagel/X.Justiz.Core/discussion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5BF84-AD15-94A8-F2C3-271108760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DE7EFF23-2F05-8E5B-D2A1-1AB6B146D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Hintergrund &amp; Motivation</a:t>
            </a:r>
            <a:endParaRPr lang="en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2FF3A8F-C147-A0EF-C3F0-197F1E0A6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1800" dirty="0"/>
              <a:t>Das Ziel von </a:t>
            </a:r>
            <a:r>
              <a:rPr lang="de-DE" sz="1800" dirty="0" err="1"/>
              <a:t>X.Justiz</a:t>
            </a:r>
            <a:r>
              <a:rPr lang="de-DE" sz="1800" dirty="0"/>
              <a:t> Core ist eine effiziente Interoperabilität:</a:t>
            </a:r>
          </a:p>
          <a:p>
            <a:r>
              <a:rPr lang="de-DE" sz="1800" b="1" dirty="0"/>
              <a:t>Effizienz:</a:t>
            </a:r>
            <a:r>
              <a:rPr lang="de-DE" sz="1800" dirty="0"/>
              <a:t> Reduzierung des Aufwandes für individuelle Schnittstellen zwischen Software-Anbietern.</a:t>
            </a:r>
          </a:p>
          <a:p>
            <a:r>
              <a:rPr lang="de-DE" sz="1800" b="1" dirty="0"/>
              <a:t>Innovation:</a:t>
            </a:r>
            <a:r>
              <a:rPr lang="de-DE" sz="1800" dirty="0"/>
              <a:t> Schnelle Anbindung von Marktplätzen und spezialisierten LegalTech-Produkten.</a:t>
            </a:r>
          </a:p>
          <a:p>
            <a:r>
              <a:rPr lang="de-DE" sz="1800" b="1" dirty="0"/>
              <a:t>Praxisnähe:</a:t>
            </a:r>
            <a:r>
              <a:rPr lang="de-DE" sz="1800" dirty="0"/>
              <a:t> Spezifische Erweiterungen für gängige Rechtsgebiete wie Erbrecht, Verkehrsrecht oder Mietrecht.</a:t>
            </a:r>
          </a:p>
          <a:p>
            <a:r>
              <a:rPr lang="de-DE" sz="1800" b="1" dirty="0"/>
              <a:t>Open Source:</a:t>
            </a:r>
            <a:r>
              <a:rPr lang="de-DE" sz="1800" dirty="0"/>
              <a:t> Kostenfreie Bereitstellung zur Förderung eines vernetzten Ökosystems.</a:t>
            </a:r>
          </a:p>
          <a:p>
            <a:pPr marL="0" indent="0">
              <a:buNone/>
            </a:pPr>
            <a:endParaRPr lang="en-DE" sz="1800" dirty="0"/>
          </a:p>
        </p:txBody>
      </p:sp>
    </p:spTree>
    <p:extLst>
      <p:ext uri="{BB962C8B-B14F-4D97-AF65-F5344CB8AC3E}">
        <p14:creationId xmlns:p14="http://schemas.microsoft.com/office/powerpoint/2010/main" val="2630004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7FDBCE-CE13-07A1-B354-7E7EE69B3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Grafik 6" descr="Ein Bild, das Stromversorgung, draußen, Verbindungsstück, Kabel enthält.&#10;&#10;KI-generierte Inhalte können fehlerhaft sein.">
            <a:extLst>
              <a:ext uri="{FF2B5EF4-FFF2-40B4-BE49-F238E27FC236}">
                <a16:creationId xmlns:a16="http://schemas.microsoft.com/office/drawing/2014/main" id="{440255F9-0DD2-960B-F378-972239BCE1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39" r="-1" b="1994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692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BFB43-CD7D-F731-EB8D-AEE2BD34A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C2D00E3E-446E-D927-D584-C21291BCC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X.Justiz</a:t>
            </a:r>
            <a:r>
              <a:rPr lang="de-DE" dirty="0"/>
              <a:t> als Basis</a:t>
            </a:r>
            <a:endParaRPr lang="en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6C92934-1B5E-AEA2-748E-A371893A9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1800" dirty="0" err="1"/>
              <a:t>X.Justiz</a:t>
            </a:r>
            <a:r>
              <a:rPr lang="de-DE" sz="1800" dirty="0"/>
              <a:t>-Standard ist…	</a:t>
            </a:r>
          </a:p>
          <a:p>
            <a:pPr marL="0" indent="0">
              <a:buNone/>
            </a:pPr>
            <a:r>
              <a:rPr lang="de-DE" sz="1800" dirty="0"/>
              <a:t>+ Etabliert am Markt</a:t>
            </a:r>
          </a:p>
          <a:p>
            <a:pPr marL="0" indent="0">
              <a:buNone/>
            </a:pPr>
            <a:r>
              <a:rPr lang="de-DE" sz="1800" dirty="0"/>
              <a:t>+ Professional gepflegt und weiterentwickelt</a:t>
            </a:r>
          </a:p>
          <a:p>
            <a:pPr marL="0" indent="0">
              <a:buNone/>
            </a:pPr>
            <a:r>
              <a:rPr lang="de-DE" sz="1800" dirty="0"/>
              <a:t>+ In einigen Bereich ohnehin verpflichtend</a:t>
            </a:r>
            <a:br>
              <a:rPr lang="de-DE" sz="1800" dirty="0"/>
            </a:br>
            <a:br>
              <a:rPr lang="de-DE" sz="1800" dirty="0"/>
            </a:br>
            <a:r>
              <a:rPr lang="de-DE" sz="1800" dirty="0"/>
              <a:t>… aber auch…</a:t>
            </a:r>
            <a:br>
              <a:rPr lang="de-DE" sz="1800" dirty="0"/>
            </a:br>
            <a:endParaRPr lang="de-DE" sz="1800" dirty="0"/>
          </a:p>
          <a:p>
            <a:pPr marL="0" indent="0">
              <a:buNone/>
            </a:pPr>
            <a:r>
              <a:rPr lang="de-DE" sz="1800" dirty="0"/>
              <a:t>- zu komplex</a:t>
            </a:r>
          </a:p>
          <a:p>
            <a:pPr marL="0" indent="0">
              <a:buNone/>
            </a:pPr>
            <a:r>
              <a:rPr lang="de-DE" sz="1800" dirty="0"/>
              <a:t>- Teilweise zu unflexibel / einige (wenige) Funktionen fehlen</a:t>
            </a:r>
          </a:p>
          <a:p>
            <a:pPr marL="0" indent="0">
              <a:buNone/>
            </a:pPr>
            <a:r>
              <a:rPr lang="de-DE" sz="1800" dirty="0"/>
              <a:t>- Die Dokumentation</a:t>
            </a:r>
          </a:p>
          <a:p>
            <a:pPr lvl="1"/>
            <a:r>
              <a:rPr lang="de-DE" sz="1800" dirty="0"/>
              <a:t>Ist nicht Zeitgemäß</a:t>
            </a:r>
          </a:p>
          <a:p>
            <a:pPr lvl="1"/>
            <a:r>
              <a:rPr lang="de-DE" sz="1800" dirty="0"/>
              <a:t>Nur in Deutscher Sprache</a:t>
            </a:r>
          </a:p>
          <a:p>
            <a:pPr lvl="1"/>
            <a:r>
              <a:rPr lang="de-DE" sz="1800" dirty="0"/>
              <a:t>Über viele Portale verteilt (dezentral)</a:t>
            </a:r>
          </a:p>
        </p:txBody>
      </p:sp>
    </p:spTree>
    <p:extLst>
      <p:ext uri="{BB962C8B-B14F-4D97-AF65-F5344CB8AC3E}">
        <p14:creationId xmlns:p14="http://schemas.microsoft.com/office/powerpoint/2010/main" val="2460121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F743C-016B-869E-91B2-3DF3CC505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513425EC-A9CD-47EE-A9B1-743C0E08B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Ziele von </a:t>
            </a:r>
            <a:r>
              <a:rPr lang="de-DE" dirty="0" err="1"/>
              <a:t>X.Justiz</a:t>
            </a:r>
            <a:r>
              <a:rPr lang="de-DE" dirty="0"/>
              <a:t> Core</a:t>
            </a:r>
            <a:endParaRPr lang="en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25F16F9-ECEF-2BAB-D137-62F81BD9D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de-DE" sz="1800" b="1" dirty="0"/>
          </a:p>
          <a:p>
            <a:r>
              <a:rPr lang="de-DE" sz="1800" b="1" dirty="0"/>
              <a:t>Reduzierte Komplexität:</a:t>
            </a:r>
            <a:r>
              <a:rPr lang="de-DE" sz="1800" dirty="0"/>
              <a:t> Beschränkung auf eine praxisrelevante Teilmenge, um „Noise“ im Datenaustausch zu vermeiden.</a:t>
            </a:r>
          </a:p>
          <a:p>
            <a:r>
              <a:rPr lang="de-DE" sz="1800" b="1" dirty="0"/>
              <a:t>Moderne Technik:</a:t>
            </a:r>
            <a:r>
              <a:rPr lang="de-DE" sz="1800" dirty="0"/>
              <a:t> Unterstützung von Dokumentenübertragungen via </a:t>
            </a:r>
            <a:r>
              <a:rPr lang="de-DE" sz="1800" dirty="0" err="1"/>
              <a:t>Pre-Signed</a:t>
            </a:r>
            <a:r>
              <a:rPr lang="de-DE" sz="1800" dirty="0"/>
              <a:t> URLs und Format-Agnostik (optimiert für JSON und XML).</a:t>
            </a:r>
          </a:p>
          <a:p>
            <a:r>
              <a:rPr lang="de-DE" sz="1800" b="1" dirty="0"/>
              <a:t>Zugänglichkeit:</a:t>
            </a:r>
            <a:r>
              <a:rPr lang="de-DE" sz="1800" dirty="0"/>
              <a:t> Zweisprachige Dokumentation (Deutsch/Englisch) für internationale Entwicklerteams.</a:t>
            </a:r>
          </a:p>
          <a:p>
            <a:r>
              <a:rPr lang="de-DE" sz="1800" b="1" dirty="0"/>
              <a:t>Erweiterung:</a:t>
            </a:r>
            <a:r>
              <a:rPr lang="de-DE" sz="1800" dirty="0"/>
              <a:t> Einführung neuer Schlüssel für Rechtsangelegenheiten (z.B. Erbrecht, Verkehrsrecht, Mietrecht).</a:t>
            </a:r>
          </a:p>
          <a:p>
            <a:r>
              <a:rPr lang="de-DE" sz="1800" b="1" dirty="0"/>
              <a:t>Flexibilität:</a:t>
            </a:r>
            <a:r>
              <a:rPr lang="de-DE" sz="1800" dirty="0"/>
              <a:t> Flexible Übermittlung von Sachverhalten, für die bisher keine spezifischen Schlüssel in </a:t>
            </a:r>
            <a:r>
              <a:rPr lang="de-DE" sz="1800" dirty="0" err="1"/>
              <a:t>X.Justiz</a:t>
            </a:r>
            <a:r>
              <a:rPr lang="de-DE" sz="1800" dirty="0"/>
              <a:t> existieren.</a:t>
            </a:r>
          </a:p>
          <a:p>
            <a:r>
              <a:rPr lang="de-DE" sz="1800" dirty="0"/>
              <a:t>Als Schema und </a:t>
            </a:r>
            <a:r>
              <a:rPr lang="de-DE" sz="1800" b="1" dirty="0"/>
              <a:t>unabhängig vom Übertragungsweg </a:t>
            </a:r>
            <a:r>
              <a:rPr lang="de-DE" sz="1800" dirty="0"/>
              <a:t>(für API optimiert, JSON/XML)</a:t>
            </a:r>
          </a:p>
        </p:txBody>
      </p:sp>
    </p:spTree>
    <p:extLst>
      <p:ext uri="{BB962C8B-B14F-4D97-AF65-F5344CB8AC3E}">
        <p14:creationId xmlns:p14="http://schemas.microsoft.com/office/powerpoint/2010/main" val="1038962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B8E04-0DE1-E5AE-396E-4A812349E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2242841E-7211-D85A-E013-1C412EA45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X.Justiz</a:t>
            </a:r>
            <a:r>
              <a:rPr lang="de-DE" dirty="0"/>
              <a:t> Core im Vgl. zu </a:t>
            </a:r>
            <a:r>
              <a:rPr lang="de-DE" dirty="0" err="1"/>
              <a:t>X.Justiz</a:t>
            </a:r>
            <a:endParaRPr lang="en-DE" dirty="0"/>
          </a:p>
        </p:txBody>
      </p:sp>
      <p:sp>
        <p:nvSpPr>
          <p:cNvPr id="6" name="AutoShape 2" descr="X.Justiz Core">
            <a:extLst>
              <a:ext uri="{FF2B5EF4-FFF2-40B4-BE49-F238E27FC236}">
                <a16:creationId xmlns:a16="http://schemas.microsoft.com/office/drawing/2014/main" id="{C81E560E-F9CF-E277-AD03-1125C03B900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DE"/>
          </a:p>
        </p:txBody>
      </p:sp>
      <p:pic>
        <p:nvPicPr>
          <p:cNvPr id="12" name="Grafik 11" descr="Ein Bild, das Text, Screenshot, Kreis, Diagramm enthält.&#10;&#10;KI-generierte Inhalte können fehlerhaft sein.">
            <a:extLst>
              <a:ext uri="{FF2B5EF4-FFF2-40B4-BE49-F238E27FC236}">
                <a16:creationId xmlns:a16="http://schemas.microsoft.com/office/drawing/2014/main" id="{57F0D1BE-185C-5EDE-9A53-E220F21CF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82015"/>
            <a:ext cx="9638097" cy="508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479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D644B-057F-63BA-A275-3AD39E1B0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656A9B34-DB57-E52A-0E32-BB9F58E8C0C7}"/>
              </a:ext>
            </a:extLst>
          </p:cNvPr>
          <p:cNvSpPr/>
          <p:nvPr/>
        </p:nvSpPr>
        <p:spPr>
          <a:xfrm>
            <a:off x="586190" y="1047147"/>
            <a:ext cx="1605829" cy="16266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Nachrichtenkopf</a:t>
            </a:r>
            <a:br>
              <a:rPr lang="de-DE" dirty="0"/>
            </a:br>
            <a:r>
              <a:rPr lang="de-DE" dirty="0"/>
              <a:t>- wer sendet an wen?</a:t>
            </a:r>
            <a:endParaRPr lang="en-DE" dirty="0"/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B6E9968B-B84A-9ACF-74E4-73F2A23F43CC}"/>
              </a:ext>
            </a:extLst>
          </p:cNvPr>
          <p:cNvSpPr/>
          <p:nvPr/>
        </p:nvSpPr>
        <p:spPr>
          <a:xfrm>
            <a:off x="2421341" y="1047147"/>
            <a:ext cx="1605829" cy="16266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Grunddaten</a:t>
            </a:r>
          </a:p>
          <a:p>
            <a:pPr algn="ctr"/>
            <a:r>
              <a:rPr lang="de-DE" dirty="0"/>
              <a:t>- Beteiligte</a:t>
            </a:r>
            <a:endParaRPr lang="en-DE" dirty="0"/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6E5C9797-8118-234D-F912-6AD7E75B6B99}"/>
              </a:ext>
            </a:extLst>
          </p:cNvPr>
          <p:cNvSpPr/>
          <p:nvPr/>
        </p:nvSpPr>
        <p:spPr>
          <a:xfrm>
            <a:off x="4256492" y="1047147"/>
            <a:ext cx="7488649" cy="6265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Schriftgutobjekte</a:t>
            </a:r>
            <a:endParaRPr lang="en-DE" dirty="0"/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B6FB3BF9-75C8-2476-14C5-07AFE1159EE4}"/>
              </a:ext>
            </a:extLst>
          </p:cNvPr>
          <p:cNvSpPr/>
          <p:nvPr/>
        </p:nvSpPr>
        <p:spPr>
          <a:xfrm>
            <a:off x="586189" y="208944"/>
            <a:ext cx="11158952" cy="7366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ÜbermittlungSchriftgutobjektNachricht</a:t>
            </a:r>
            <a:endParaRPr lang="en-DE" dirty="0"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2C8690A1-D238-60B8-09CD-EF9DFA23305C}"/>
              </a:ext>
            </a:extLst>
          </p:cNvPr>
          <p:cNvSpPr/>
          <p:nvPr/>
        </p:nvSpPr>
        <p:spPr>
          <a:xfrm>
            <a:off x="4256492" y="1775279"/>
            <a:ext cx="5986421" cy="89852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Akte(n)</a:t>
            </a:r>
            <a:endParaRPr lang="en-DE" dirty="0"/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B69464F4-40FF-162D-E380-B828448554B1}"/>
              </a:ext>
            </a:extLst>
          </p:cNvPr>
          <p:cNvSpPr/>
          <p:nvPr/>
        </p:nvSpPr>
        <p:spPr>
          <a:xfrm>
            <a:off x="10316391" y="1775279"/>
            <a:ext cx="1428750" cy="89852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Dokumente</a:t>
            </a:r>
            <a:endParaRPr lang="en-DE" dirty="0"/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492380A7-1F7B-2229-8959-D2B7394EAEBB}"/>
              </a:ext>
            </a:extLst>
          </p:cNvPr>
          <p:cNvSpPr/>
          <p:nvPr/>
        </p:nvSpPr>
        <p:spPr>
          <a:xfrm>
            <a:off x="4256492" y="2880178"/>
            <a:ext cx="2969931" cy="18605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Fachspezifische Erweiterungen</a:t>
            </a:r>
          </a:p>
          <a:p>
            <a:pPr algn="ctr"/>
            <a:endParaRPr lang="de-DE" dirty="0"/>
          </a:p>
          <a:p>
            <a:pPr algn="ctr"/>
            <a:r>
              <a:rPr lang="de-DE" dirty="0"/>
              <a:t>- Feste Keys</a:t>
            </a:r>
            <a:endParaRPr lang="en-DE" dirty="0"/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6F149BB9-B603-8AF4-F9F5-0EF0B0943BFB}"/>
              </a:ext>
            </a:extLst>
          </p:cNvPr>
          <p:cNvSpPr/>
          <p:nvPr/>
        </p:nvSpPr>
        <p:spPr>
          <a:xfrm>
            <a:off x="7386221" y="2818266"/>
            <a:ext cx="2856692" cy="18605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Anwendungsspezifische Daten</a:t>
            </a:r>
          </a:p>
          <a:p>
            <a:pPr algn="ctr"/>
            <a:endParaRPr lang="de-DE" dirty="0"/>
          </a:p>
          <a:p>
            <a:pPr marL="285750" indent="-285750" algn="ctr">
              <a:buFontTx/>
              <a:buChar char="-"/>
            </a:pPr>
            <a:r>
              <a:rPr lang="de-DE" dirty="0"/>
              <a:t>Felder / </a:t>
            </a:r>
            <a:r>
              <a:rPr lang="de-DE" dirty="0" err="1"/>
              <a:t>FeldGruppen</a:t>
            </a:r>
            <a:endParaRPr lang="de-DE" dirty="0"/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3FD32CB3-000A-DCE8-5FD5-F62D2C7EFC73}"/>
              </a:ext>
            </a:extLst>
          </p:cNvPr>
          <p:cNvSpPr/>
          <p:nvPr/>
        </p:nvSpPr>
        <p:spPr>
          <a:xfrm>
            <a:off x="4266742" y="4823279"/>
            <a:ext cx="1524458" cy="18605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Akten </a:t>
            </a:r>
            <a:r>
              <a:rPr lang="de-DE" dirty="0" err="1"/>
              <a:t>metadaten</a:t>
            </a:r>
            <a:endParaRPr lang="en-DE" dirty="0"/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4567D806-7255-6CC7-BB11-BD483060F9ED}"/>
              </a:ext>
            </a:extLst>
          </p:cNvPr>
          <p:cNvSpPr/>
          <p:nvPr/>
        </p:nvSpPr>
        <p:spPr>
          <a:xfrm>
            <a:off x="5913120" y="4823278"/>
            <a:ext cx="1619795" cy="18605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Außergerichtliche Kommunikation / Mandatsannahme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„Sachverhalt“</a:t>
            </a:r>
            <a:endParaRPr lang="en-DE" sz="1400" dirty="0"/>
          </a:p>
        </p:txBody>
      </p:sp>
    </p:spTree>
    <p:extLst>
      <p:ext uri="{BB962C8B-B14F-4D97-AF65-F5344CB8AC3E}">
        <p14:creationId xmlns:p14="http://schemas.microsoft.com/office/powerpoint/2010/main" val="3228251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95656-3584-C6A6-6DF5-D2C909BE6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B0DC3B91-E1FD-6C36-E017-3F7403C9F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liefert das „</a:t>
            </a:r>
            <a:r>
              <a:rPr lang="de-DE" dirty="0" err="1"/>
              <a:t>X.Justiz</a:t>
            </a:r>
            <a:r>
              <a:rPr lang="de-DE" dirty="0"/>
              <a:t> Core“ Projekt</a:t>
            </a:r>
            <a:endParaRPr lang="en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04E1D1A-0977-AE92-7199-89BC0CE0A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de-DE" sz="1800" dirty="0"/>
              <a:t>Schema „X.Justiz Core“ (Spezifikationen, UML, XSD, Klassenbibliothek, uvm.)</a:t>
            </a:r>
          </a:p>
          <a:p>
            <a:pPr marL="342900" indent="-342900">
              <a:buAutoNum type="arabicPeriod"/>
            </a:pPr>
            <a:r>
              <a:rPr lang="de-DE" sz="1800" dirty="0"/>
              <a:t>Anleitung und Dokumentation zum Einsatz (DE | EN)</a:t>
            </a:r>
          </a:p>
          <a:p>
            <a:pPr marL="342900" indent="-342900">
              <a:buAutoNum type="arabicPeriod"/>
            </a:pPr>
            <a:r>
              <a:rPr lang="de-DE" sz="1800" dirty="0"/>
              <a:t>Beispieldatensätze</a:t>
            </a:r>
          </a:p>
          <a:p>
            <a:pPr marL="342900" indent="-342900">
              <a:buAutoNum type="arabicPeriod"/>
            </a:pPr>
            <a:r>
              <a:rPr lang="de-DE" sz="1800" dirty="0"/>
              <a:t>Beispielimplementierungen (in einer API)</a:t>
            </a:r>
          </a:p>
          <a:p>
            <a:pPr marL="342900" indent="-342900">
              <a:buAutoNum type="arabicPeriod"/>
            </a:pPr>
            <a:r>
              <a:rPr lang="de-DE" sz="1800" dirty="0"/>
              <a:t>Integration und Vereinfachung von Code-Listen (Staat, Rolle, Gericht, Dokumentklasse, etc.) incl. Übersetzung (DE | EN), derzeit ca. 3.500 Stück</a:t>
            </a:r>
          </a:p>
          <a:p>
            <a:pPr marL="342900" indent="-342900">
              <a:buAutoNum type="arabicPeriod"/>
            </a:pPr>
            <a:r>
              <a:rPr lang="de-DE" sz="1800" dirty="0"/>
              <a:t>… und ...</a:t>
            </a:r>
          </a:p>
          <a:p>
            <a:pPr marL="342900" indent="-342900">
              <a:buAutoNum type="arabicPeriod"/>
            </a:pPr>
            <a:endParaRPr lang="de-DE" sz="1800" dirty="0"/>
          </a:p>
        </p:txBody>
      </p:sp>
      <p:pic>
        <p:nvPicPr>
          <p:cNvPr id="5" name="Picture 2" descr="Open Source rubber grunge stamp set vector 24478762 Vector Art at Vecteezy">
            <a:extLst>
              <a:ext uri="{FF2B5EF4-FFF2-40B4-BE49-F238E27FC236}">
                <a16:creationId xmlns:a16="http://schemas.microsoft.com/office/drawing/2014/main" id="{03787AAF-E9E4-C90A-D83F-3E42597A6D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38" t="9310" r="14821" b="9981"/>
          <a:stretch>
            <a:fillRect/>
          </a:stretch>
        </p:blipFill>
        <p:spPr bwMode="auto">
          <a:xfrm>
            <a:off x="8067592" y="3835397"/>
            <a:ext cx="3740869" cy="2657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0431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F1B6D-8EDB-AFA9-19F2-9998D887D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AAC064B7-B8C3-F182-F886-1400D0B2F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liefert das „X.Justiz Core“ Projekt</a:t>
            </a:r>
            <a:endParaRPr lang="en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8E4CB97-01F0-8676-A5D5-DD8E9E1F2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8440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e-DE" sz="1800" dirty="0"/>
              <a:t>X.Justiz Core SKD:</a:t>
            </a:r>
          </a:p>
          <a:p>
            <a:r>
              <a:rPr lang="de-DE" sz="1800" dirty="0"/>
              <a:t>Klassenbibliothek</a:t>
            </a:r>
          </a:p>
          <a:p>
            <a:r>
              <a:rPr lang="de-DE" sz="1800" dirty="0"/>
              <a:t>Dokumentation (DE | EN)</a:t>
            </a:r>
          </a:p>
          <a:p>
            <a:r>
              <a:rPr lang="de-DE" sz="1800" dirty="0" err="1"/>
              <a:t>Utils</a:t>
            </a:r>
            <a:r>
              <a:rPr lang="de-DE" sz="1800" dirty="0"/>
              <a:t>:</a:t>
            </a:r>
          </a:p>
          <a:p>
            <a:pPr lvl="1"/>
            <a:r>
              <a:rPr lang="de-DE" sz="1800" dirty="0"/>
              <a:t>Lese- / Schreiboperation</a:t>
            </a:r>
          </a:p>
          <a:p>
            <a:pPr lvl="1"/>
            <a:r>
              <a:rPr lang="de-DE" sz="1800" dirty="0"/>
              <a:t>Kompatibilitätsprüfungen</a:t>
            </a:r>
          </a:p>
          <a:p>
            <a:pPr lvl="1"/>
            <a:r>
              <a:rPr lang="de-DE" sz="1800" dirty="0"/>
              <a:t>Beispiel-Implementierungen</a:t>
            </a:r>
          </a:p>
          <a:p>
            <a:pPr lvl="1"/>
            <a:r>
              <a:rPr lang="de-DE" sz="1800" dirty="0"/>
              <a:t>Konvertierung (X.Justiz &lt;&gt; X.Justiz Core)</a:t>
            </a:r>
          </a:p>
          <a:p>
            <a:pPr lvl="1"/>
            <a:r>
              <a:rPr lang="de-DE" sz="1800" dirty="0"/>
              <a:t>Validationen</a:t>
            </a:r>
          </a:p>
          <a:p>
            <a:pPr lvl="1"/>
            <a:r>
              <a:rPr lang="de-DE" sz="1800" dirty="0"/>
              <a:t>Kompression (</a:t>
            </a:r>
            <a:r>
              <a:rPr lang="de-DE" sz="1800" dirty="0" err="1"/>
              <a:t>zip</a:t>
            </a:r>
            <a:r>
              <a:rPr lang="de-DE" sz="1800" dirty="0"/>
              <a:t>-Archive mit Dateianhängen)</a:t>
            </a:r>
          </a:p>
          <a:p>
            <a:pPr marL="457200" lvl="1" indent="0">
              <a:buNone/>
            </a:pPr>
            <a:endParaRPr lang="de-DE" sz="1800" dirty="0"/>
          </a:p>
          <a:p>
            <a:pPr marL="0" indent="0">
              <a:buNone/>
            </a:pPr>
            <a:endParaRPr lang="de-DE" sz="1800" dirty="0"/>
          </a:p>
          <a:p>
            <a:pPr marL="0" indent="0">
              <a:buNone/>
            </a:pPr>
            <a:endParaRPr lang="de-DE" sz="1800" dirty="0"/>
          </a:p>
          <a:p>
            <a:pPr marL="342900" indent="-342900">
              <a:buAutoNum type="arabicPeriod"/>
            </a:pPr>
            <a:endParaRPr lang="de-DE" sz="180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A17455F-C705-422E-9DDC-F9E271A5655E}"/>
              </a:ext>
            </a:extLst>
          </p:cNvPr>
          <p:cNvSpPr txBox="1"/>
          <p:nvPr/>
        </p:nvSpPr>
        <p:spPr>
          <a:xfrm>
            <a:off x="324184" y="5224577"/>
            <a:ext cx="57718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de-DE" dirty="0"/>
              <a:t>✅ .NET (Code | </a:t>
            </a:r>
            <a:r>
              <a:rPr lang="de-DE" dirty="0" err="1"/>
              <a:t>nuget</a:t>
            </a:r>
            <a:r>
              <a:rPr lang="de-DE" dirty="0"/>
              <a:t> Paket | Erste Schritte)</a:t>
            </a:r>
          </a:p>
          <a:p>
            <a:pPr lvl="1"/>
            <a:r>
              <a:rPr lang="de-DE" dirty="0"/>
              <a:t>⏳ Java (Spring) (In Arbeit)</a:t>
            </a:r>
          </a:p>
          <a:p>
            <a:pPr lvl="1"/>
            <a:r>
              <a:rPr lang="de-DE" dirty="0"/>
              <a:t>⏳ JavaScript / </a:t>
            </a:r>
            <a:r>
              <a:rPr lang="de-DE" dirty="0" err="1"/>
              <a:t>TypeScript</a:t>
            </a:r>
            <a:r>
              <a:rPr lang="de-DE" dirty="0"/>
              <a:t> (In Arbeit)</a:t>
            </a:r>
          </a:p>
          <a:p>
            <a:pPr lvl="1"/>
            <a:r>
              <a:rPr lang="de-DE" dirty="0"/>
              <a:t>⏳ Python (In Arbeit) </a:t>
            </a:r>
          </a:p>
        </p:txBody>
      </p:sp>
      <p:pic>
        <p:nvPicPr>
          <p:cNvPr id="7" name="Picture 2" descr="Open Source rubber grunge stamp set vector 24478762 Vector Art at Vecteezy">
            <a:extLst>
              <a:ext uri="{FF2B5EF4-FFF2-40B4-BE49-F238E27FC236}">
                <a16:creationId xmlns:a16="http://schemas.microsoft.com/office/drawing/2014/main" id="{AA5E079A-6AAF-2CBC-7739-7BA28A9625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38" t="9310" r="14821" b="9981"/>
          <a:stretch>
            <a:fillRect/>
          </a:stretch>
        </p:blipFill>
        <p:spPr bwMode="auto">
          <a:xfrm>
            <a:off x="8067592" y="3835397"/>
            <a:ext cx="3740869" cy="2657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8424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12AD9-00DC-F3F3-20F4-103554001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CA72C49B-F036-650F-6233-179D04C28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Start mit „X.Justiz Core 0.2.0-beta“</a:t>
            </a:r>
            <a:endParaRPr lang="en-DE" dirty="0"/>
          </a:p>
        </p:txBody>
      </p:sp>
      <p:pic>
        <p:nvPicPr>
          <p:cNvPr id="9" name="Inhaltsplatzhalter 8" descr="Ein Bild, das Text, Screenshot, Software, Multimedia-Software enthält.&#10;&#10;KI-generierte Inhalte können fehlerhaft sein.">
            <a:extLst>
              <a:ext uri="{FF2B5EF4-FFF2-40B4-BE49-F238E27FC236}">
                <a16:creationId xmlns:a16="http://schemas.microsoft.com/office/drawing/2014/main" id="{68688CCE-F43D-A6EB-DEEC-29F17C4306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41537"/>
            <a:ext cx="6281208" cy="4351338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70C5A97D-909A-CA0E-9FD7-C6BDA1F87A77}"/>
              </a:ext>
            </a:extLst>
          </p:cNvPr>
          <p:cNvSpPr txBox="1"/>
          <p:nvPr/>
        </p:nvSpPr>
        <p:spPr>
          <a:xfrm>
            <a:off x="838200" y="1772205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DE" dirty="0">
                <a:hlinkClick r:id="rId3"/>
              </a:rPr>
              <a:t>https://github.com/l-pagel/X.Justiz.Core</a:t>
            </a:r>
            <a:endParaRPr lang="en-DE" dirty="0"/>
          </a:p>
        </p:txBody>
      </p:sp>
      <p:pic>
        <p:nvPicPr>
          <p:cNvPr id="3074" name="Picture 2" descr="GitHub Logo and symbol, meaning, history, PNG, brand">
            <a:extLst>
              <a:ext uri="{FF2B5EF4-FFF2-40B4-BE49-F238E27FC236}">
                <a16:creationId xmlns:a16="http://schemas.microsoft.com/office/drawing/2014/main" id="{81DBD957-FD50-9CB6-A14C-A944997260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8222" y="2484162"/>
            <a:ext cx="3091543" cy="1738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Nuget logo Icon">
            <a:extLst>
              <a:ext uri="{FF2B5EF4-FFF2-40B4-BE49-F238E27FC236}">
                <a16:creationId xmlns:a16="http://schemas.microsoft.com/office/drawing/2014/main" id="{2489B3A1-4A6B-71E4-F60F-ADE918A454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8978" y="4660722"/>
            <a:ext cx="2950029" cy="147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5810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440B8-C8EA-9334-5F1E-F7B181888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A1B977E-3D22-47BF-C57A-244635CD1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Ausblick</a:t>
            </a:r>
            <a:endParaRPr lang="en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B2CCFCE-BBFF-27C3-DCC1-3660C37C7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de-DE" sz="1800" dirty="0"/>
              <a:t>Start Open Beta und Feedback-Akkumulation</a:t>
            </a:r>
            <a:br>
              <a:rPr lang="de-DE" sz="1800" dirty="0"/>
            </a:br>
            <a:r>
              <a:rPr lang="de-DE" sz="1800" dirty="0"/>
              <a:t>(heute)</a:t>
            </a:r>
          </a:p>
          <a:p>
            <a:pPr marL="342900" indent="-342900">
              <a:buAutoNum type="arabicPeriod"/>
            </a:pPr>
            <a:r>
              <a:rPr lang="de-DE" sz="1800" dirty="0"/>
              <a:t>Ergänzung von Dokumentation, Anleitung, UML</a:t>
            </a:r>
            <a:br>
              <a:rPr lang="de-DE" sz="1800" dirty="0"/>
            </a:br>
            <a:r>
              <a:rPr lang="de-DE" sz="1800" dirty="0"/>
              <a:t>(kurzfristig)</a:t>
            </a:r>
          </a:p>
          <a:p>
            <a:pPr marL="342900" indent="-342900">
              <a:buAutoNum type="arabicPeriod"/>
            </a:pPr>
            <a:r>
              <a:rPr lang="de-DE" sz="1800" dirty="0"/>
              <a:t>Einführung neuer Schlüssel für Rechtsangelegenheiten (z.B. Erbrecht, Verkehrsrecht, Mietrecht)</a:t>
            </a:r>
            <a:br>
              <a:rPr lang="de-DE" sz="1800" dirty="0"/>
            </a:br>
            <a:r>
              <a:rPr lang="de-DE" sz="1800" dirty="0"/>
              <a:t>(kurz bis mittelfristig)</a:t>
            </a:r>
          </a:p>
          <a:p>
            <a:pPr marL="342900" indent="-342900">
              <a:buAutoNum type="arabicPeriod"/>
            </a:pPr>
            <a:r>
              <a:rPr lang="de-DE" sz="1800" dirty="0"/>
              <a:t>Ergänzung weitere Framework (Java, Python, JS/TS, usw.)</a:t>
            </a:r>
            <a:br>
              <a:rPr lang="de-DE" sz="1800" dirty="0"/>
            </a:br>
            <a:r>
              <a:rPr lang="de-DE" sz="1800" dirty="0"/>
              <a:t>(mittelfristig)</a:t>
            </a:r>
          </a:p>
          <a:p>
            <a:pPr marL="342900" indent="-342900">
              <a:buAutoNum type="arabicPeriod"/>
            </a:pPr>
            <a:endParaRPr lang="de-DE" sz="1800" dirty="0"/>
          </a:p>
          <a:p>
            <a:pPr marL="342900" indent="-342900">
              <a:buAutoNum type="arabicPeriod"/>
            </a:pPr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3354859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E5409-D25B-8B28-3ED4-2BF30EA93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56C4DE33-6083-85BB-E826-E37AFD0C1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Aufruf an euch</a:t>
            </a:r>
            <a:endParaRPr lang="en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FC597F6-EBCA-61DB-FE24-56CC04EEF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1800" dirty="0"/>
              <a:t>Vertratet uns eure Bedarfe und Anforderungen</a:t>
            </a:r>
          </a:p>
          <a:p>
            <a:pPr lvl="1"/>
            <a:r>
              <a:rPr lang="de-DE" sz="1400" dirty="0"/>
              <a:t>Welche Frameworks wollt ihr?</a:t>
            </a:r>
          </a:p>
          <a:p>
            <a:pPr lvl="1"/>
            <a:r>
              <a:rPr lang="de-DE" sz="1400" dirty="0"/>
              <a:t>Habt ihr legacy-Frameworks im Einsatz?</a:t>
            </a:r>
          </a:p>
          <a:p>
            <a:pPr lvl="1"/>
            <a:r>
              <a:rPr lang="de-DE" sz="1400" dirty="0"/>
              <a:t>Welche Rechtsgebiete / Sachverhaltslisten sind für euch wichtig?</a:t>
            </a:r>
          </a:p>
          <a:p>
            <a:endParaRPr lang="de-DE" sz="1800" dirty="0"/>
          </a:p>
          <a:p>
            <a:r>
              <a:rPr lang="de-DE" sz="1800" dirty="0"/>
              <a:t>Lasst eure Entwickler ran:</a:t>
            </a:r>
          </a:p>
          <a:p>
            <a:pPr lvl="1"/>
            <a:r>
              <a:rPr lang="de-DE" sz="1400" dirty="0"/>
              <a:t>Zugang zum </a:t>
            </a:r>
            <a:r>
              <a:rPr lang="de-DE" sz="1400" dirty="0" err="1"/>
              <a:t>Git</a:t>
            </a:r>
            <a:r>
              <a:rPr lang="de-DE" sz="1400" dirty="0"/>
              <a:t>-Projekt</a:t>
            </a:r>
          </a:p>
          <a:p>
            <a:pPr lvl="1"/>
            <a:r>
              <a:rPr lang="de-DE" sz="1400" dirty="0"/>
              <a:t>„</a:t>
            </a:r>
            <a:r>
              <a:rPr lang="de-DE" sz="1400" dirty="0" err="1"/>
              <a:t>Roast</a:t>
            </a:r>
            <a:r>
              <a:rPr lang="de-DE" sz="1400" dirty="0"/>
              <a:t> </a:t>
            </a:r>
            <a:r>
              <a:rPr lang="de-DE" sz="1400" dirty="0" err="1"/>
              <a:t>our</a:t>
            </a:r>
            <a:r>
              <a:rPr lang="de-DE" sz="1400" dirty="0"/>
              <a:t> Code“</a:t>
            </a:r>
          </a:p>
          <a:p>
            <a:pPr lvl="1"/>
            <a:r>
              <a:rPr lang="de-DE" sz="1400" dirty="0"/>
              <a:t>Sammelt Feedback ein und gebt es uns</a:t>
            </a:r>
          </a:p>
          <a:p>
            <a:r>
              <a:rPr lang="de-DE" sz="1800" dirty="0"/>
              <a:t>Gebt uns Bespieldatensätze</a:t>
            </a:r>
          </a:p>
          <a:p>
            <a:r>
              <a:rPr lang="de-DE" sz="1800" dirty="0"/>
              <a:t>Gebt dem Projekt Sichtbarkeit, Sprecht mit euren Produktpartnern darüber</a:t>
            </a:r>
          </a:p>
          <a:p>
            <a:r>
              <a:rPr lang="de-DE" sz="1800" dirty="0"/>
              <a:t>Werdet offizieller Unterstützer des Projekts</a:t>
            </a:r>
          </a:p>
          <a:p>
            <a:r>
              <a:rPr lang="de-DE" sz="1800" dirty="0"/>
              <a:t>Engagiert und formt das Projekt aktiv mit  </a:t>
            </a:r>
          </a:p>
          <a:p>
            <a:endParaRPr lang="de-DE" sz="1800" dirty="0"/>
          </a:p>
          <a:p>
            <a:pPr marL="742950" lvl="1" indent="-285750"/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2902968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6CB83-FEA1-44C5-A11E-BDFE91E7E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0866891-5968-61CA-95CB-0D463ED53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Workspace / Kontakt</a:t>
            </a:r>
            <a:endParaRPr lang="en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5D7FEB7-6642-15A3-FB2A-5A5629FA4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1800" dirty="0">
                <a:hlinkClick r:id="rId2"/>
              </a:rPr>
              <a:t>https://github.com/l-pagel/X.Justiz.Core/discussions</a:t>
            </a:r>
            <a:endParaRPr lang="de-DE" sz="1800" dirty="0"/>
          </a:p>
          <a:p>
            <a:r>
              <a:rPr lang="de-DE" sz="1800" dirty="0"/>
              <a:t>lukas.pagel@xjustizcore.de</a:t>
            </a:r>
          </a:p>
          <a:p>
            <a:pPr marL="0" indent="0">
              <a:buNone/>
            </a:pPr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1700860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846</TotalTime>
  <Words>622</Words>
  <Application>Microsoft Office PowerPoint</Application>
  <PresentationFormat>Breitbild</PresentationFormat>
  <Paragraphs>91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</vt:lpstr>
      <vt:lpstr>Hintergrund &amp; Motivation</vt:lpstr>
      <vt:lpstr>PowerPoint-Präsentation</vt:lpstr>
      <vt:lpstr>X.Justiz als Basis</vt:lpstr>
      <vt:lpstr>Ziele von X.Justiz Core</vt:lpstr>
      <vt:lpstr>X.Justiz Core im Vgl. zu X.Justiz</vt:lpstr>
      <vt:lpstr>PowerPoint-Präsentation</vt:lpstr>
      <vt:lpstr>Was liefert das „X.Justiz Core“ Projekt</vt:lpstr>
      <vt:lpstr>Was liefert das „X.Justiz Core“ Projekt</vt:lpstr>
      <vt:lpstr>Start mit „X.Justiz Core 0.2.0-beta“</vt:lpstr>
      <vt:lpstr>Ausblick</vt:lpstr>
      <vt:lpstr>Aufruf an euch</vt:lpstr>
      <vt:lpstr>Workspace / Kontakt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Lukas Pagel</dc:creator>
  <cp:lastModifiedBy>Lukas Pagel</cp:lastModifiedBy>
  <cp:revision>3</cp:revision>
  <dcterms:created xsi:type="dcterms:W3CDTF">2026-01-04T10:00:48Z</dcterms:created>
  <dcterms:modified xsi:type="dcterms:W3CDTF">2026-01-12T11:54:22Z</dcterms:modified>
</cp:coreProperties>
</file>